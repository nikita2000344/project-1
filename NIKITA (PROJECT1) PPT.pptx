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Bike_Sharing_Complete_Project%20(1)%20NIKI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Bike_Sharing_Complete_Project%20(1)%20NIKI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Bike_Sharing_Complete_Project%20(1)%20NIKI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Bike_Sharing_Complete_Project%20(1)%20NIKI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PB10\Desktop\anoop%20marge%20datas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[Bike_Sharing_Complete_Project (1) NIKITA.xlsx]Daily demand pivot!PivotTable1</c:name>
    <c:fmtId val="9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tint val="98000"/>
                  <a:shade val="25000"/>
                  <a:satMod val="250000"/>
                </a:schemeClr>
              </a:gs>
              <a:gs pos="68000">
                <a:schemeClr val="accent1">
                  <a:tint val="86000"/>
                  <a:satMod val="115000"/>
                </a:schemeClr>
              </a:gs>
              <a:gs pos="100000">
                <a:schemeClr val="accent1">
                  <a:tint val="50000"/>
                  <a:satMod val="150000"/>
                </a:schemeClr>
              </a:gs>
            </a:gsLst>
            <a:path path="circle">
              <a:fillToRect l="50000" t="130000" r="50000" b="-30000"/>
            </a:path>
          </a:gradFill>
          <a:ln w="34925" cap="rnd">
            <a:solidFill>
              <a:schemeClr val="accent1"/>
            </a:solidFill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'Daily demand pivot'!$B$3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>'Daily demand pivot'!$A$4:$A$50</c:f>
              <c:strCache>
                <c:ptCount val="46"/>
                <c:pt idx="0">
                  <c:v>2011-01-01</c:v>
                </c:pt>
                <c:pt idx="1">
                  <c:v>2011-01-02</c:v>
                </c:pt>
                <c:pt idx="2">
                  <c:v>2011-01-03</c:v>
                </c:pt>
                <c:pt idx="3">
                  <c:v>2011-01-04</c:v>
                </c:pt>
                <c:pt idx="4">
                  <c:v>2011-01-05</c:v>
                </c:pt>
                <c:pt idx="5">
                  <c:v>2011-01-06</c:v>
                </c:pt>
                <c:pt idx="6">
                  <c:v>2011-01-07</c:v>
                </c:pt>
                <c:pt idx="7">
                  <c:v>2011-01-08</c:v>
                </c:pt>
                <c:pt idx="8">
                  <c:v>2011-01-09</c:v>
                </c:pt>
                <c:pt idx="9">
                  <c:v>2011-01-10</c:v>
                </c:pt>
                <c:pt idx="10">
                  <c:v>2011-01-11</c:v>
                </c:pt>
                <c:pt idx="11">
                  <c:v>2011-01-12</c:v>
                </c:pt>
                <c:pt idx="12">
                  <c:v>2011-01-13</c:v>
                </c:pt>
                <c:pt idx="13">
                  <c:v>2011-01-14</c:v>
                </c:pt>
                <c:pt idx="14">
                  <c:v>2011-01-15</c:v>
                </c:pt>
                <c:pt idx="15">
                  <c:v>2011-01-16</c:v>
                </c:pt>
                <c:pt idx="16">
                  <c:v>2011-01-17</c:v>
                </c:pt>
                <c:pt idx="17">
                  <c:v>2011-01-18</c:v>
                </c:pt>
                <c:pt idx="18">
                  <c:v>2011-01-19</c:v>
                </c:pt>
                <c:pt idx="19">
                  <c:v>2011-01-20</c:v>
                </c:pt>
                <c:pt idx="20">
                  <c:v>2011-01-21</c:v>
                </c:pt>
                <c:pt idx="21">
                  <c:v>2011-01-22</c:v>
                </c:pt>
                <c:pt idx="22">
                  <c:v>2011-01-23</c:v>
                </c:pt>
                <c:pt idx="23">
                  <c:v>2011-01-24</c:v>
                </c:pt>
                <c:pt idx="24">
                  <c:v>2011-01-25</c:v>
                </c:pt>
                <c:pt idx="25">
                  <c:v>2011-01-26</c:v>
                </c:pt>
                <c:pt idx="26">
                  <c:v>2011-01-27</c:v>
                </c:pt>
                <c:pt idx="27">
                  <c:v>2011-01-28</c:v>
                </c:pt>
                <c:pt idx="28">
                  <c:v>2011-01-29</c:v>
                </c:pt>
                <c:pt idx="29">
                  <c:v>2011-01-30</c:v>
                </c:pt>
                <c:pt idx="30">
                  <c:v>2011-01-31</c:v>
                </c:pt>
                <c:pt idx="31">
                  <c:v>2011-02-01</c:v>
                </c:pt>
                <c:pt idx="32">
                  <c:v>2011-02-02</c:v>
                </c:pt>
                <c:pt idx="33">
                  <c:v>2011-02-03</c:v>
                </c:pt>
                <c:pt idx="34">
                  <c:v>2011-02-04</c:v>
                </c:pt>
                <c:pt idx="35">
                  <c:v>2011-02-05</c:v>
                </c:pt>
                <c:pt idx="36">
                  <c:v>2011-02-06</c:v>
                </c:pt>
                <c:pt idx="37">
                  <c:v>2011-02-07</c:v>
                </c:pt>
                <c:pt idx="38">
                  <c:v>2011-02-08</c:v>
                </c:pt>
                <c:pt idx="39">
                  <c:v>2011-02-09</c:v>
                </c:pt>
                <c:pt idx="40">
                  <c:v>2011-02-10</c:v>
                </c:pt>
                <c:pt idx="41">
                  <c:v>2011-02-11</c:v>
                </c:pt>
                <c:pt idx="42">
                  <c:v>2011-02-12</c:v>
                </c:pt>
                <c:pt idx="43">
                  <c:v>2011-02-13</c:v>
                </c:pt>
                <c:pt idx="44">
                  <c:v>2011-02-14</c:v>
                </c:pt>
                <c:pt idx="45">
                  <c:v>01-01-2011</c:v>
                </c:pt>
              </c:strCache>
            </c:strRef>
          </c:cat>
          <c:val>
            <c:numRef>
              <c:f>'Daily demand pivot'!$B$4:$B$50</c:f>
              <c:numCache>
                <c:formatCode>General</c:formatCode>
                <c:ptCount val="46"/>
                <c:pt idx="0">
                  <c:v>969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  <c:pt idx="45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38-4EF0-B552-585F13D020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48694032"/>
        <c:axId val="648695832"/>
      </c:lineChart>
      <c:catAx>
        <c:axId val="648694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695832"/>
        <c:crosses val="autoZero"/>
        <c:auto val="1"/>
        <c:lblAlgn val="ctr"/>
        <c:lblOffset val="100"/>
        <c:noMultiLvlLbl val="0"/>
      </c:catAx>
      <c:valAx>
        <c:axId val="648695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8694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[Bike_Sharing_Complete_Project (1) NIKITA.xlsx]temperature category vs cnt!PivotTable23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TOTAL RENTALS</a:t>
            </a:r>
          </a:p>
        </c:rich>
      </c:tx>
      <c:layout>
        <c:manualLayout>
          <c:xMode val="edge"/>
          <c:yMode val="edge"/>
          <c:x val="0.37804155730533678"/>
          <c:y val="3.6016331291921846E-2"/>
        </c:manualLayout>
      </c:layout>
      <c:overlay val="0"/>
      <c:spPr>
        <a:solidFill>
          <a:schemeClr val="accent6">
            <a:lumMod val="60000"/>
            <a:lumOff val="4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7500634295713036"/>
          <c:y val="0.24886373578302712"/>
          <c:w val="0.39790398075240596"/>
          <c:h val="0.66317330125400986"/>
        </c:manualLayout>
      </c:layout>
      <c:pieChart>
        <c:varyColors val="1"/>
        <c:ser>
          <c:idx val="0"/>
          <c:order val="0"/>
          <c:tx>
            <c:strRef>
              <c:f>'temperature category vs cnt'!$B$3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6CE-4BBC-912C-0E4BC94B708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6CE-4BBC-912C-0E4BC94B708B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'temperature category vs cnt'!$A$4:$A$6</c:f>
              <c:strCache>
                <c:ptCount val="2"/>
                <c:pt idx="0">
                  <c:v>Cold</c:v>
                </c:pt>
                <c:pt idx="1">
                  <c:v>Warm</c:v>
                </c:pt>
              </c:strCache>
            </c:strRef>
          </c:cat>
          <c:val>
            <c:numRef>
              <c:f>'temperature category vs cnt'!$B$4:$B$6</c:f>
              <c:numCache>
                <c:formatCode>General</c:formatCode>
                <c:ptCount val="2"/>
                <c:pt idx="0">
                  <c:v>46484</c:v>
                </c:pt>
                <c:pt idx="1">
                  <c:v>11820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CE-4BBC-912C-0E4BC94B708B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[Bike_Sharing_Complete_Project (1) NIKITA.xlsx]Bike demand analysis pivot!PivotTable6</c:name>
    <c:fmtId val="9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'Bike demand analysis pivot'!$B$3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'Bike demand analysis pivot'!$A$4:$A$28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'Bike demand analysis pivot'!$B$4:$B$28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64-4E26-B430-61CF294E7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04077832"/>
        <c:axId val="404078912"/>
      </c:barChart>
      <c:catAx>
        <c:axId val="404077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078912"/>
        <c:crosses val="autoZero"/>
        <c:auto val="1"/>
        <c:lblAlgn val="ctr"/>
        <c:lblOffset val="100"/>
        <c:noMultiLvlLbl val="0"/>
      </c:catAx>
      <c:valAx>
        <c:axId val="404078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4077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[Bike_Sharing_Complete_Project (1) NIKITA.xlsx]weather condition demand pivot !PivotTable4</c:name>
    <c:fmtId val="8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bg2">
              <a:lumMod val="5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'weather condition demand pivot 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'weather condition demand pivot '!$A$4:$A$8</c:f>
              <c:strCache>
                <c:ptCount val="4"/>
                <c:pt idx="0">
                  <c:v>Clear</c:v>
                </c:pt>
                <c:pt idx="1">
                  <c:v>Heavy Rain/Ice</c:v>
                </c:pt>
                <c:pt idx="2">
                  <c:v>Light Rain/Snow</c:v>
                </c:pt>
                <c:pt idx="3">
                  <c:v>Mist/Cloudy</c:v>
                </c:pt>
              </c:strCache>
            </c:strRef>
          </c:cat>
          <c:val>
            <c:numRef>
              <c:f>'weather condition demand pivot '!$B$4:$B$8</c:f>
              <c:numCache>
                <c:formatCode>General</c:formatCode>
                <c:ptCount val="4"/>
                <c:pt idx="0">
                  <c:v>37373</c:v>
                </c:pt>
                <c:pt idx="1">
                  <c:v>36</c:v>
                </c:pt>
                <c:pt idx="2">
                  <c:v>2789</c:v>
                </c:pt>
                <c:pt idx="3">
                  <c:v>18106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C4-4FEF-98E4-BF31E91C3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2713864"/>
        <c:axId val="612708824"/>
      </c:barChart>
      <c:catAx>
        <c:axId val="612713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2708824"/>
        <c:crosses val="autoZero"/>
        <c:auto val="1"/>
        <c:lblAlgn val="ctr"/>
        <c:lblOffset val="100"/>
        <c:noMultiLvlLbl val="0"/>
      </c:catAx>
      <c:valAx>
        <c:axId val="612708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2713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[anoop marge dataset.xlsx]Monthly growth!PivotTable4</c:name>
    <c:fmtId val="4"/>
  </c:pivotSource>
  <c:chart>
    <c:title>
      <c:tx>
        <c:rich>
          <a:bodyPr/>
          <a:lstStyle/>
          <a:p>
            <a:pPr>
              <a:defRPr/>
            </a:pPr>
            <a:r>
              <a:rPr lang="en-US" sz="1800" b="1" i="0" u="none" strike="noStrike" baseline="0">
                <a:solidFill>
                  <a:srgbClr val="00B050"/>
                </a:solidFill>
              </a:rPr>
              <a:t>Monthly Growth Chart</a:t>
            </a:r>
            <a:endParaRPr lang="en-US">
              <a:solidFill>
                <a:srgbClr val="00B050"/>
              </a:solidFill>
            </a:endParaRPr>
          </a:p>
        </c:rich>
      </c:tx>
      <c:layout>
        <c:manualLayout>
          <c:xMode val="edge"/>
          <c:yMode val="edge"/>
          <c:x val="0.16807047672919759"/>
          <c:y val="6.2453385929910621E-3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spPr>
          <a:solidFill>
            <a:srgbClr val="FFFF00"/>
          </a:solidFill>
        </c:spPr>
      </c:pivotFmt>
      <c:pivotFmt>
        <c:idx val="2"/>
        <c:marker>
          <c:symbol val="none"/>
        </c:marker>
      </c:pivotFmt>
      <c:pivotFmt>
        <c:idx val="3"/>
        <c:spPr>
          <a:solidFill>
            <a:srgbClr val="FFFF00"/>
          </a:solidFill>
        </c:spPr>
      </c:pivotFmt>
      <c:pivotFmt>
        <c:idx val="4"/>
        <c:marker>
          <c:symbol val="none"/>
        </c:marker>
      </c:pivotFmt>
      <c:pivotFmt>
        <c:idx val="5"/>
        <c:spPr>
          <a:solidFill>
            <a:srgbClr val="FFFF00"/>
          </a:solidFill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 growth'!$B$3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1"/>
            <c:invertIfNegative val="0"/>
            <c:bubble3D val="0"/>
            <c:spPr>
              <a:solidFill>
                <a:srgbClr val="FFFF00"/>
              </a:solidFill>
            </c:spPr>
            <c:extLst>
              <c:ext xmlns:c16="http://schemas.microsoft.com/office/drawing/2014/chart" uri="{C3380CC4-5D6E-409C-BE32-E72D297353CC}">
                <c16:uniqueId val="{00000001-0E25-41C1-8A64-1B028E647AE9}"/>
              </c:ext>
            </c:extLst>
          </c:dPt>
          <c:cat>
            <c:strRef>
              <c:f>'Monthly growth'!$A$4:$A$6</c:f>
              <c:strCache>
                <c:ptCount val="2"/>
                <c:pt idx="0">
                  <c:v>January</c:v>
                </c:pt>
                <c:pt idx="1">
                  <c:v>February</c:v>
                </c:pt>
              </c:strCache>
            </c:strRef>
          </c:cat>
          <c:val>
            <c:numRef>
              <c:f>'Monthly growth'!$B$4:$B$6</c:f>
              <c:numCache>
                <c:formatCode>General</c:formatCode>
                <c:ptCount val="2"/>
                <c:pt idx="0">
                  <c:v>38189</c:v>
                </c:pt>
                <c:pt idx="1">
                  <c:v>20115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25-41C1-8A64-1B028E647A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4467328"/>
        <c:axId val="194468864"/>
      </c:barChart>
      <c:catAx>
        <c:axId val="1944673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4468864"/>
        <c:crosses val="autoZero"/>
        <c:auto val="1"/>
        <c:lblAlgn val="ctr"/>
        <c:lblOffset val="100"/>
        <c:noMultiLvlLbl val="0"/>
      </c:catAx>
      <c:valAx>
        <c:axId val="19446886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4467328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[anoop marge dataset.xlsx]Casualregistered by hr!PivotTable5</c:name>
    <c:fmtId val="5"/>
  </c:pivotSource>
  <c:chart>
    <c:autoTitleDeleted val="0"/>
    <c:pivotFmts>
      <c:pivotFmt>
        <c:idx val="0"/>
        <c:spPr>
          <a:solidFill>
            <a:srgbClr val="FF0000"/>
          </a:solidFill>
        </c:spPr>
        <c:marker>
          <c:symbol val="none"/>
        </c:marker>
      </c:pivotFmt>
      <c:pivotFmt>
        <c:idx val="1"/>
        <c:spPr>
          <a:solidFill>
            <a:srgbClr val="0070C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layout>
            <c:manualLayout>
              <c:x val="0"/>
              <c:y val="-0.352201257861635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layout>
            <c:manualLayout>
              <c:x val="0"/>
              <c:y val="-0.3899371069182390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layout>
            <c:manualLayout>
              <c:x val="0"/>
              <c:y val="-0.38574423480083858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layout>
            <c:manualLayout>
              <c:x val="-4.4969083754918494E-3"/>
              <c:y val="-0.16352201257861634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FF0000"/>
          </a:solidFill>
        </c:spPr>
        <c:marker>
          <c:symbol val="none"/>
        </c:marker>
      </c:pivotFmt>
      <c:pivotFmt>
        <c:idx val="7"/>
        <c:spPr>
          <a:solidFill>
            <a:srgbClr val="0070C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layout>
            <c:manualLayout>
              <c:x val="0"/>
              <c:y val="-0.352201257861635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layout>
            <c:manualLayout>
              <c:x val="0"/>
              <c:y val="-0.3899371069182390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layout>
            <c:manualLayout>
              <c:x val="0"/>
              <c:y val="-0.38574423480083858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layout>
            <c:manualLayout>
              <c:x val="-4.4969083754918494E-3"/>
              <c:y val="-0.16352201257861634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FF0000"/>
          </a:solidFill>
        </c:spPr>
        <c:marker>
          <c:symbol val="none"/>
        </c:marker>
      </c:pivotFmt>
      <c:pivotFmt>
        <c:idx val="13"/>
        <c:spPr>
          <a:solidFill>
            <a:srgbClr val="0070C0"/>
          </a:solidFill>
        </c:spPr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layout>
            <c:manualLayout>
              <c:x val="0"/>
              <c:y val="-0.352201257861635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layout>
            <c:manualLayout>
              <c:x val="0"/>
              <c:y val="-0.38993710691823902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layout>
            <c:manualLayout>
              <c:x val="0"/>
              <c:y val="-0.38574423480083858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-4.4969083754918494E-3"/>
              <c:y val="-0.16352201257861634"/>
            </c:manualLayout>
          </c:layout>
          <c:spPr>
            <a:solidFill>
              <a:schemeClr val="bg1"/>
            </a:solidFill>
          </c:spPr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'Casualregistered by hr'!$B$3</c:f>
              <c:strCache>
                <c:ptCount val="1"/>
                <c:pt idx="0">
                  <c:v> casual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cat>
            <c:strRef>
              <c:f>'Casualregistered by hr'!$A$4:$A$8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'Casualregistered by hr'!$B$4:$B$8</c:f>
              <c:numCache>
                <c:formatCode>General</c:formatCode>
                <c:ptCount val="4"/>
                <c:pt idx="0">
                  <c:v>2490</c:v>
                </c:pt>
                <c:pt idx="1">
                  <c:v>944</c:v>
                </c:pt>
                <c:pt idx="2">
                  <c:v>967</c:v>
                </c:pt>
                <c:pt idx="3">
                  <c:v>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89-4A3A-AD1B-85FA1BBE1BD8}"/>
            </c:ext>
          </c:extLst>
        </c:ser>
        <c:ser>
          <c:idx val="1"/>
          <c:order val="1"/>
          <c:tx>
            <c:strRef>
              <c:f>'Casualregistered by hr'!$C$3</c:f>
              <c:strCache>
                <c:ptCount val="1"/>
                <c:pt idx="0">
                  <c:v> Registered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-0.3522012578616352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89-4A3A-AD1B-85FA1BBE1BD8}"/>
                </c:ext>
              </c:extLst>
            </c:dLbl>
            <c:dLbl>
              <c:idx val="1"/>
              <c:layout>
                <c:manualLayout>
                  <c:x val="0"/>
                  <c:y val="-0.38993710691823902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E89-4A3A-AD1B-85FA1BBE1BD8}"/>
                </c:ext>
              </c:extLst>
            </c:dLbl>
            <c:dLbl>
              <c:idx val="2"/>
              <c:layout>
                <c:manualLayout>
                  <c:x val="0"/>
                  <c:y val="-0.38574423480083858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89-4A3A-AD1B-85FA1BBE1BD8}"/>
                </c:ext>
              </c:extLst>
            </c:dLbl>
            <c:dLbl>
              <c:idx val="3"/>
              <c:layout>
                <c:manualLayout>
                  <c:x val="-4.4969083754918494E-3"/>
                  <c:y val="-0.16352201257861634"/>
                </c:manualLayout>
              </c:layout>
              <c:spPr>
                <a:solidFill>
                  <a:schemeClr val="bg1"/>
                </a:solidFill>
              </c:spPr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E89-4A3A-AD1B-85FA1BBE1B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'Casualregistered by hr'!$A$4:$A$8</c:f>
              <c:strCache>
                <c:ptCount val="4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  <c:pt idx="3">
                  <c:v>Night</c:v>
                </c:pt>
              </c:strCache>
            </c:strRef>
          </c:cat>
          <c:val>
            <c:numRef>
              <c:f>'Casualregistered by hr'!$C$4:$C$8</c:f>
              <c:numCache>
                <c:formatCode>General</c:formatCode>
                <c:ptCount val="4"/>
                <c:pt idx="0">
                  <c:v>14649</c:v>
                </c:pt>
                <c:pt idx="1">
                  <c:v>16825</c:v>
                </c:pt>
                <c:pt idx="2">
                  <c:v>16001</c:v>
                </c:pt>
                <c:pt idx="3">
                  <c:v>5908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E89-4A3A-AD1B-85FA1BBE1B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547072"/>
        <c:axId val="194557056"/>
      </c:barChart>
      <c:catAx>
        <c:axId val="1945470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4557056"/>
        <c:crosses val="autoZero"/>
        <c:auto val="1"/>
        <c:lblAlgn val="ctr"/>
        <c:lblOffset val="100"/>
        <c:noMultiLvlLbl val="0"/>
      </c:catAx>
      <c:valAx>
        <c:axId val="1945570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454707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1322314275932897"/>
          <c:y val="0.32230707010680265"/>
          <c:w val="0.27357508641942524"/>
          <c:h val="0.17089948662077617"/>
        </c:manualLayout>
      </c:layout>
      <c:overlay val="1"/>
      <c:txPr>
        <a:bodyPr/>
        <a:lstStyle/>
        <a:p>
          <a:pPr>
            <a:defRPr sz="1500" b="1"/>
          </a:pPr>
          <a:endParaRPr lang="en-US"/>
        </a:p>
      </c:txPr>
    </c:legend>
    <c:plotVisOnly val="1"/>
    <c:dispBlanksAs val="gap"/>
    <c:showDLblsOverMax val="0"/>
  </c:chart>
  <c:spPr>
    <a:ln>
      <a:gradFill>
        <a:gsLst>
          <a:gs pos="0">
            <a:srgbClr val="000082"/>
          </a:gs>
          <a:gs pos="13000">
            <a:srgbClr val="0047FF"/>
          </a:gs>
          <a:gs pos="28000">
            <a:srgbClr val="000082"/>
          </a:gs>
          <a:gs pos="42999">
            <a:srgbClr val="0047FF"/>
          </a:gs>
          <a:gs pos="58000">
            <a:srgbClr val="000082"/>
          </a:gs>
          <a:gs pos="72000">
            <a:srgbClr val="0047FF"/>
          </a:gs>
          <a:gs pos="87000">
            <a:srgbClr val="000082"/>
          </a:gs>
          <a:gs pos="100000">
            <a:srgbClr val="0047FF"/>
          </a:gs>
        </a:gsLst>
        <a:lin ang="5400000" scaled="0"/>
      </a:gradFill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Bike Sharing Demand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14917"/>
            <a:ext cx="8229600" cy="4111247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             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Bike Sharing Demand Analysis  </a:t>
            </a:r>
            <a:r>
              <a:rPr lang="en-US" b="1" dirty="0"/>
              <a:t>               </a:t>
            </a:r>
          </a:p>
          <a:p>
            <a:pPr marL="0" indent="0" algn="ctr">
              <a:buNone/>
            </a:pPr>
            <a:r>
              <a:rPr lang="en-US" b="1" dirty="0"/>
              <a:t> Next Hikes IT Solutions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Name			:    		NIKITA </a:t>
            </a:r>
            <a:br>
              <a:rPr lang="en-US" dirty="0"/>
            </a:br>
            <a:r>
              <a:rPr lang="en-US" dirty="0"/>
              <a:t>Course		:   		DATA ANALYTICS</a:t>
            </a:r>
            <a:br>
              <a:rPr lang="en-US" dirty="0"/>
            </a:br>
            <a:r>
              <a:rPr lang="en-US" dirty="0"/>
              <a:t>Date			:   	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25.03.2026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bike-sharing data to understand rental demand patterns.</a:t>
            </a:r>
          </a:p>
          <a:p>
            <a:r>
              <a:rPr lang="en-US" dirty="0"/>
              <a:t>The goal is to identify how factors like time, weather, and user type affect bike rentals.</a:t>
            </a:r>
            <a:endParaRPr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7C31CC2-84EA-4DEF-9607-4930AE1304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7946167"/>
              </p:ext>
            </p:extLst>
          </p:nvPr>
        </p:nvGraphicFramePr>
        <p:xfrm>
          <a:off x="2187678" y="365514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Bike rental </a:t>
            </a:r>
            <a:r>
              <a:rPr lang="en-US" b="1" dirty="0">
                <a:solidFill>
                  <a:srgbClr val="FF0000"/>
                </a:solidFill>
              </a:rPr>
              <a:t>demand </a:t>
            </a:r>
            <a:r>
              <a:rPr lang="en-US" dirty="0"/>
              <a:t>changes based on different conditions such as </a:t>
            </a:r>
            <a:r>
              <a:rPr lang="en-US" b="1" dirty="0">
                <a:solidFill>
                  <a:srgbClr val="FF0000"/>
                </a:solidFill>
              </a:rPr>
              <a:t>weather</a:t>
            </a:r>
            <a:r>
              <a:rPr lang="en-US" dirty="0"/>
              <a:t>, time, and user behavior.</a:t>
            </a:r>
          </a:p>
          <a:p>
            <a:r>
              <a:rPr lang="en-US" dirty="0"/>
              <a:t>The objective is to analyze these patterns to improve business decision-making.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341B0CE-8231-477F-9F5E-53FE90594A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77870"/>
              </p:ext>
            </p:extLst>
          </p:nvPr>
        </p:nvGraphicFramePr>
        <p:xfrm>
          <a:off x="1961536" y="394519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dataset contains hourly and daily bike rental data.</a:t>
            </a:r>
          </a:p>
          <a:p>
            <a:r>
              <a:rPr lang="en-US" dirty="0"/>
              <a:t>Main columns:</a:t>
            </a:r>
          </a:p>
          <a:p>
            <a:r>
              <a:rPr lang="en-US" dirty="0"/>
              <a:t>Date (</a:t>
            </a:r>
            <a:r>
              <a:rPr lang="en-US" dirty="0" err="1"/>
              <a:t>dteday</a:t>
            </a:r>
            <a:r>
              <a:rPr lang="en-US" dirty="0"/>
              <a:t>)</a:t>
            </a:r>
          </a:p>
          <a:p>
            <a:r>
              <a:rPr lang="en-US" dirty="0"/>
              <a:t>Hour (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  <a:p>
            <a:r>
              <a:rPr lang="en-US" dirty="0"/>
              <a:t>Weather (</a:t>
            </a:r>
            <a:r>
              <a:rPr lang="en-US" dirty="0" err="1"/>
              <a:t>weathersit</a:t>
            </a:r>
            <a:r>
              <a:rPr lang="en-US" dirty="0"/>
              <a:t>)</a:t>
            </a:r>
          </a:p>
          <a:p>
            <a:r>
              <a:rPr lang="en-US" dirty="0"/>
              <a:t>Temperature (temp)</a:t>
            </a:r>
          </a:p>
          <a:p>
            <a:r>
              <a:rPr lang="en-US" dirty="0"/>
              <a:t>Users (casual, registered)</a:t>
            </a:r>
          </a:p>
          <a:p>
            <a:r>
              <a:rPr lang="en-US" dirty="0"/>
              <a:t>Total Rentals (</a:t>
            </a:r>
            <a:r>
              <a:rPr lang="en-US" dirty="0" err="1"/>
              <a:t>cnt</a:t>
            </a:r>
            <a:r>
              <a:rPr lang="en-US" dirty="0"/>
              <a:t>)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720" y="2536095"/>
            <a:ext cx="3210080" cy="3241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missing values</a:t>
            </a:r>
          </a:p>
          <a:p>
            <a:r>
              <a:rPr lang="en-US" dirty="0"/>
              <a:t>Handled null data</a:t>
            </a:r>
          </a:p>
          <a:p>
            <a:r>
              <a:rPr lang="en-US" dirty="0"/>
              <a:t>Corrected data types</a:t>
            </a:r>
          </a:p>
          <a:p>
            <a:r>
              <a:rPr lang="en-US" dirty="0"/>
              <a:t>Removed duplicates</a:t>
            </a:r>
          </a:p>
          <a:p>
            <a:r>
              <a:rPr lang="en-US" dirty="0"/>
              <a:t>Formatted dataset properly</a:t>
            </a:r>
            <a:endParaRPr dirty="0"/>
          </a:p>
        </p:txBody>
      </p:sp>
      <p:pic>
        <p:nvPicPr>
          <p:cNvPr id="3074" name="Picture 2" descr="List icon with check sign. List icon and approved, confirm, done, tick, completed symb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798" y="2120113"/>
            <a:ext cx="1545579" cy="122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images.openai.com/static-rsc-4/A5BVdgC97G6IQ57Vwxwqo_zDK3NVppUdQLdaXovHIK8iWe8LFW5MhW1FevLDrhzKhaLYrvfccdW0800-1koY0kxIUlUQM4n6NMwzKX5WoEVcM7Jicv91q6QTU-06PyfCRhRfoCXV5Sa460sUx5BhPSkkcfWN0ZveMPjl-nfb7CatwF68ZYE7jIlF9YVgAk_X?purpose=fullsiz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795" y="2412004"/>
            <a:ext cx="1240002" cy="83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images.openai.com/static-rsc-4/Mvg4oyXTgMG_QluuoglqMYXJ_6jWsbxgfbBxVX4C5yJoM7UZduktHgDwzaSMt6L8qcTNTfWpmRxwKIXf2WB8MEiKLzjxkdE0xfGG5CSC97zMWFTXcrVX6jpgEDIrDjXI4c6N2sYixxfAm94ZjaCuzopQ9KKkpxXszclHnc1wPKWPd_5YbTwzHjt6Za5DvC1T?purpose=fullsiz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831" y="3884176"/>
            <a:ext cx="2829333" cy="161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Data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Combined 3 datasets using Power Query</a:t>
            </a:r>
          </a:p>
          <a:p>
            <a:r>
              <a:rPr lang="en-US" dirty="0"/>
              <a:t>Used common keys: instant, </a:t>
            </a:r>
            <a:r>
              <a:rPr lang="en-US" dirty="0" err="1"/>
              <a:t>dteday</a:t>
            </a:r>
            <a:r>
              <a:rPr lang="en-US" dirty="0"/>
              <a:t>, </a:t>
            </a:r>
            <a:r>
              <a:rPr lang="en-US" dirty="0" err="1"/>
              <a:t>hr</a:t>
            </a:r>
            <a:endParaRPr lang="en-US" dirty="0"/>
          </a:p>
          <a:p>
            <a:r>
              <a:rPr lang="en-US" dirty="0"/>
              <a:t>Created a single clean dataset for analysis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2524715" y="4300651"/>
            <a:ext cx="49766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b-NO" dirty="0"/>
              <a:t>      [</a:t>
            </a:r>
            <a:r>
              <a:rPr lang="nb-NO" dirty="0">
                <a:solidFill>
                  <a:srgbClr val="0070C0"/>
                </a:solidFill>
              </a:rPr>
              <a:t>Dataset 1</a:t>
            </a:r>
            <a:r>
              <a:rPr lang="nb-NO" dirty="0"/>
              <a:t>]     [</a:t>
            </a:r>
            <a:r>
              <a:rPr lang="nb-NO" dirty="0">
                <a:solidFill>
                  <a:srgbClr val="0070C0"/>
                </a:solidFill>
              </a:rPr>
              <a:t>Dataset 2</a:t>
            </a:r>
            <a:r>
              <a:rPr lang="nb-NO" dirty="0"/>
              <a:t>]     [</a:t>
            </a:r>
            <a:r>
              <a:rPr lang="nb-NO" dirty="0">
                <a:solidFill>
                  <a:srgbClr val="0070C0"/>
                </a:solidFill>
              </a:rPr>
              <a:t>Dataset 3</a:t>
            </a:r>
            <a:endParaRPr lang="nb-NO" dirty="0"/>
          </a:p>
          <a:p>
            <a:r>
              <a:rPr lang="nb-NO" dirty="0"/>
              <a:t>             </a:t>
            </a:r>
            <a:r>
              <a:rPr lang="nb-NO" b="1" dirty="0"/>
              <a:t>↓                         ↓                     ↓</a:t>
            </a:r>
          </a:p>
          <a:p>
            <a:endParaRPr lang="nb-NO" dirty="0"/>
          </a:p>
          <a:p>
            <a:r>
              <a:rPr lang="nb-NO" dirty="0"/>
              <a:t>                           [</a:t>
            </a:r>
            <a:r>
              <a:rPr lang="nb-NO" dirty="0">
                <a:solidFill>
                  <a:srgbClr val="00B0F0"/>
                </a:solidFill>
              </a:rPr>
              <a:t>Final Dataset</a:t>
            </a:r>
            <a:r>
              <a:rPr lang="nb-NO" dirty="0"/>
              <a:t>]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Key Features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7088"/>
            <a:ext cx="8229600" cy="4477512"/>
          </a:xfrm>
        </p:spPr>
        <p:txBody>
          <a:bodyPr>
            <a:normAutofit/>
          </a:bodyPr>
          <a:lstStyle/>
          <a:p>
            <a:r>
              <a:rPr lang="en-US" dirty="0"/>
              <a:t>Weekend / Weekday classification –                     📅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dirty="0"/>
              <a:t>Weekday = Working days Weekend = Holiday days</a:t>
            </a:r>
          </a:p>
          <a:p>
            <a:r>
              <a:rPr lang="en-US" dirty="0"/>
              <a:t>Demand Level (High / Low) -                                 📊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dirty="0"/>
              <a:t>High demand →</a:t>
            </a:r>
            <a:r>
              <a:rPr lang="en-US" sz="2000" b="1" dirty="0"/>
              <a:t>"Higher rentals"</a:t>
            </a:r>
            <a:r>
              <a:rPr lang="en-US" sz="2000" dirty="0"/>
              <a:t> Low demand → </a:t>
            </a:r>
            <a:r>
              <a:rPr lang="en-US" sz="2000" b="1" dirty="0"/>
              <a:t>"Lower rentals" </a:t>
            </a:r>
          </a:p>
          <a:p>
            <a:pPr marL="0" indent="0">
              <a:buNone/>
            </a:pPr>
            <a:r>
              <a:rPr lang="en-US" dirty="0"/>
              <a:t>    Temperature category (Hot / Cold / Moderate)-   🌡</a:t>
            </a:r>
          </a:p>
          <a:p>
            <a:r>
              <a:rPr lang="en-US" dirty="0"/>
              <a:t>"Total Users (Casual + Registered)"  -    👥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124793" y="5453460"/>
            <a:ext cx="6069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                       ⏰              🌦️             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Analysis - Hourly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8340"/>
            <a:ext cx="8229600" cy="4652920"/>
          </a:xfrm>
        </p:spPr>
        <p:txBody>
          <a:bodyPr/>
          <a:lstStyle/>
          <a:p>
            <a:r>
              <a:rPr lang="en-US" dirty="0"/>
              <a:t>Peak demand observed during morning and evening hours</a:t>
            </a:r>
          </a:p>
          <a:p>
            <a:r>
              <a:rPr lang="en-US" dirty="0"/>
              <a:t>Low demand during late night</a:t>
            </a:r>
          </a:p>
          <a:p>
            <a:r>
              <a:rPr lang="en-US" dirty="0"/>
              <a:t>Useful for scheduling bikes efficiently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841053A-C15B-4770-AF5F-D71D82E63D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464101"/>
              </p:ext>
            </p:extLst>
          </p:nvPr>
        </p:nvGraphicFramePr>
        <p:xfrm>
          <a:off x="1823884" y="363931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Analysis - Weather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5972"/>
            <a:ext cx="8229600" cy="4568628"/>
          </a:xfrm>
        </p:spPr>
        <p:txBody>
          <a:bodyPr/>
          <a:lstStyle/>
          <a:p>
            <a:r>
              <a:rPr lang="en-US" dirty="0"/>
              <a:t>Clear weather shows highest rentals</a:t>
            </a:r>
          </a:p>
          <a:p>
            <a:r>
              <a:rPr lang="en-US" dirty="0"/>
              <a:t>Rainy or bad weather reduces demand</a:t>
            </a:r>
          </a:p>
          <a:p>
            <a:r>
              <a:rPr lang="en-US" dirty="0"/>
              <a:t>Weather plays a key role in rentals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2112056" y="6324600"/>
            <a:ext cx="3843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Clear weather leads to higher rentals.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D5FC58B-338A-4FEC-8E77-8BD0161003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574980"/>
              </p:ext>
            </p:extLst>
          </p:nvPr>
        </p:nvGraphicFramePr>
        <p:xfrm>
          <a:off x="1747896" y="3410712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Analysis - Monthly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156"/>
            <a:ext cx="8229600" cy="4552444"/>
          </a:xfrm>
        </p:spPr>
        <p:txBody>
          <a:bodyPr/>
          <a:lstStyle/>
          <a:p>
            <a:r>
              <a:rPr lang="en-US" dirty="0"/>
              <a:t>Demand increases during summer months</a:t>
            </a:r>
          </a:p>
          <a:p>
            <a:r>
              <a:rPr lang="en-US" dirty="0"/>
              <a:t>Lower demand in winter</a:t>
            </a:r>
          </a:p>
          <a:p>
            <a:r>
              <a:rPr lang="en-US" dirty="0"/>
              <a:t>Seasonal patterns are clearly visible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158616"/>
              </p:ext>
            </p:extLst>
          </p:nvPr>
        </p:nvGraphicFramePr>
        <p:xfrm>
          <a:off x="2221264" y="3382470"/>
          <a:ext cx="3532173" cy="1980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1531557" y="5502012"/>
            <a:ext cx="56541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Demand increases during summer months.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User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463" y="1776876"/>
            <a:ext cx="8229600" cy="4552444"/>
          </a:xfrm>
        </p:spPr>
        <p:txBody>
          <a:bodyPr/>
          <a:lstStyle/>
          <a:p>
            <a:r>
              <a:rPr lang="en-US" dirty="0"/>
              <a:t>Registered users contribute more Rentals</a:t>
            </a:r>
          </a:p>
          <a:p>
            <a:r>
              <a:rPr lang="en-US" dirty="0"/>
              <a:t>Casual users mainly active on weekends</a:t>
            </a:r>
          </a:p>
          <a:p>
            <a:r>
              <a:rPr lang="en-US" dirty="0"/>
              <a:t>Shows difference in user behavior</a:t>
            </a:r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010355"/>
              </p:ext>
            </p:extLst>
          </p:nvPr>
        </p:nvGraphicFramePr>
        <p:xfrm>
          <a:off x="1990641" y="3379184"/>
          <a:ext cx="4410161" cy="2285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1917812" y="5953347"/>
            <a:ext cx="42494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Registered users contribute more rentals.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dashboard created using Excel.</a:t>
            </a:r>
          </a:p>
          <a:p>
            <a:r>
              <a:rPr lang="en-US" dirty="0"/>
              <a:t>Includes multiple charts and slicers.</a:t>
            </a:r>
          </a:p>
          <a:p>
            <a:r>
              <a:rPr lang="en-US" dirty="0"/>
              <a:t>Helps in dynamic data filtering and insights.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42" y="1935480"/>
            <a:ext cx="8399532" cy="4389120"/>
          </a:xfrm>
        </p:spPr>
        <p:txBody>
          <a:bodyPr>
            <a:normAutofit/>
          </a:bodyPr>
          <a:lstStyle/>
          <a:p>
            <a:r>
              <a:rPr lang="en-US" dirty="0"/>
              <a:t>"Microsoft Excel"–Data analysis and dashboard creation</a:t>
            </a:r>
          </a:p>
          <a:p>
            <a:r>
              <a:rPr lang="en-US" dirty="0"/>
              <a:t>Power Query – Data cleaning and merging</a:t>
            </a:r>
          </a:p>
          <a:p>
            <a:r>
              <a:rPr lang="en-US" dirty="0"/>
              <a:t>Pivot Tables – Data summarization</a:t>
            </a:r>
          </a:p>
          <a:p>
            <a:r>
              <a:rPr lang="en-US" dirty="0"/>
              <a:t>Charts – Data visualization</a:t>
            </a:r>
          </a:p>
          <a:p>
            <a:r>
              <a:rPr lang="en-US" dirty="0"/>
              <a:t> Slicers – Interactive filtering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sz="1300" dirty="0"/>
              <a:t>📊 Microsoft Excel           🔗 Power Query                 📈 Pivot Tables          📉 Charts       🎛 Slicers </a:t>
            </a:r>
            <a:r>
              <a:rPr lang="en-US" sz="1300" dirty="0" err="1"/>
              <a:t>ve</a:t>
            </a:r>
            <a:r>
              <a:rPr lang="en-US" sz="1300" dirty="0"/>
              <a:t> filtering</a:t>
            </a:r>
            <a:endParaRPr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7088"/>
            <a:ext cx="8229600" cy="447751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Bike demand depends on time, weather, and user type</a:t>
            </a:r>
          </a:p>
          <a:p>
            <a:r>
              <a:rPr lang="en-US" dirty="0"/>
              <a:t>Peak hours and seasons identified</a:t>
            </a:r>
          </a:p>
          <a:p>
            <a:r>
              <a:rPr lang="en-US" dirty="0"/>
              <a:t>Data helps improve business planning and decision-making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Presented by: NIKITA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318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144</TotalTime>
  <Words>485</Words>
  <Application>Microsoft Office PowerPoint</Application>
  <PresentationFormat>On-screen Show (4:3)</PresentationFormat>
  <Paragraphs>103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Constantia</vt:lpstr>
      <vt:lpstr>Times New Roman</vt:lpstr>
      <vt:lpstr>Wingdings 2</vt:lpstr>
      <vt:lpstr>Flow</vt:lpstr>
      <vt:lpstr>Bike Sharing Demand Analysis</vt:lpstr>
      <vt:lpstr>Introduction</vt:lpstr>
      <vt:lpstr>Problem Statement</vt:lpstr>
      <vt:lpstr>Dataset Overview</vt:lpstr>
      <vt:lpstr>Data Cleaning</vt:lpstr>
      <vt:lpstr>Data Merging</vt:lpstr>
      <vt:lpstr>Key Features Created</vt:lpstr>
      <vt:lpstr>Analysis - Hourly Demand</vt:lpstr>
      <vt:lpstr>Analysis - Weather Impact</vt:lpstr>
      <vt:lpstr>Analysis - Monthly Trend</vt:lpstr>
      <vt:lpstr>User Analysis</vt:lpstr>
      <vt:lpstr>Dashboard Overview</vt:lpstr>
      <vt:lpstr>Tools Used</vt:lpstr>
      <vt:lpstr>Conclusion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</dc:title>
  <dc:creator>MPB10</dc:creator>
  <dc:description>generated using python-pptx</dc:description>
  <cp:lastModifiedBy>Tushar malik</cp:lastModifiedBy>
  <cp:revision>26</cp:revision>
  <dcterms:created xsi:type="dcterms:W3CDTF">2013-01-27T09:14:16Z</dcterms:created>
  <dcterms:modified xsi:type="dcterms:W3CDTF">2026-03-28T14:20:29Z</dcterms:modified>
</cp:coreProperties>
</file>